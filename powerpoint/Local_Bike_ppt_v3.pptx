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2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6115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final DataBird. Objectif : modéliser la base transactionnelle de Local Bike pour alimenter un dashboard d'optimisation des ventes.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donnée descend de gauche à droite. Les règles métier ne vivent que dans le mart : staging et intermediate restent neutres, donc réutilisables.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staging ne décide de rien. Il rend la source utilisable : noms explicites, types corrects, clés primaires, et une batterie de tests qui garantit l'intégrité avant toute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couche porte les jointures pour que le mart n'ait plus qu'un seul parent. Elle reste volontairement neutre : aucun filtre, sinon int__stocks hériterait de règles qui ne le concernent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marts, trois grains. Le périmètre est commun aux trois (annulées exclues) pour qu'ils restent joignables sans biais. La date de référence est MAX(order_date) : le dataset s'arrête en 2018.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Placer ici la capture du DAG dbt.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9E680-9B1F-DCA5-47FF-BBD85AC80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44F4E1-336D-E338-FB05-B498A443F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CA97F0-A0D5-0B45-488D-C8D3293B0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Placer ici la capture du DAG dbt.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FCF6D-F5F2-7618-A7B7-838717FAF3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14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65463-AAE1-D39C-9E3C-1806A81A2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301EF-1479-2DD3-10F6-9B2C7149E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ABCBE-35A1-6E27-0786-9F4BA1622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Placer ici la capture du DAG dbt.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58019-C908-95F7-14DF-E6434CD3A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35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C2812-84DD-031A-3E5B-008347A35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D96F44-4505-2C7C-F85A-ED8A5E454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5E6AC-F5D5-D5C7-BE6F-079B93EF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Placer ici la capture du DAG dbt.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B983B-861F-8D56-BEC5-5AF2F41C97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176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21646-5C13-8A7B-606C-314C8BCA8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8150A-B177-89E9-8FDD-C2B753483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907B49-428B-8928-2C1D-51F865070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Placer ici la capture du DAG dbt.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50A67-22DF-E11A-E136-84C6BF0D1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29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568AA-341A-CD2D-96F1-91CDDF23F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3EADF-D75D-F91D-798C-EDAFB65E5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9B98AD-60DA-E40E-4E17-B4C103EEA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Placer ici la capture du DAG dbt.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E13D8-7FB7-F55E-7058-904DC83DE1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69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Merci — ouverture aux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914400"/>
            <a:ext cx="3291840" cy="3291840"/>
          </a:xfrm>
          <a:prstGeom prst="ellipse">
            <a:avLst/>
          </a:prstGeom>
          <a:solidFill>
            <a:srgbClr val="5B4FE9">
              <a:alpha val="28000"/>
            </a:srgbClr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3" name="Shape 1"/>
          <p:cNvSpPr/>
          <p:nvPr/>
        </p:nvSpPr>
        <p:spPr>
          <a:xfrm>
            <a:off x="8138160" y="3200400"/>
            <a:ext cx="2011680" cy="2011680"/>
          </a:xfrm>
          <a:prstGeom prst="ellipse">
            <a:avLst/>
          </a:prstGeom>
          <a:solidFill>
            <a:srgbClr val="00C08B">
              <a:alpha val="18000"/>
            </a:srgbClr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FINAL — DATABIRD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Bike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 err="1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r>
              <a:rPr lang="en-US" sz="1800" dirty="0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r>
              <a:rPr lang="en-US" sz="1800" dirty="0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cloud </a:t>
            </a:r>
            <a:r>
              <a:rPr lang="en-US" sz="1800" dirty="0" err="1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</a:t>
            </a:r>
            <a:r>
              <a:rPr lang="en-US" dirty="0" err="1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dirty="0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</a:t>
            </a:r>
            <a:r>
              <a:rPr lang="en-US" sz="1800" dirty="0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 Metabase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23254A"/>
          </a:solidFill>
          <a:ln w="12700">
            <a:solidFill>
              <a:srgbClr val="5B4FE9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github.com/data-ag/</a:t>
            </a:r>
            <a:r>
              <a:rPr lang="en-US" sz="14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local_bike_project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 ·  dbt  ·  </a:t>
            </a:r>
            <a:r>
              <a:rPr lang="en-US" sz="1200" dirty="0" err="1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brut à l'insight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couches dbt, une couche exposée à la BI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7277"/>
            <a:ext cx="2468880" cy="1600200"/>
          </a:xfrm>
          <a:prstGeom prst="roundRect">
            <a:avLst>
              <a:gd name="adj" fmla="val 5714"/>
            </a:avLst>
          </a:prstGeom>
          <a:solidFill>
            <a:srgbClr val="F3F3F8"/>
          </a:solidFill>
          <a:ln w="1270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749808" y="1708445"/>
            <a:ext cx="310896" cy="310896"/>
          </a:xfrm>
          <a:prstGeom prst="ellipse">
            <a:avLst/>
          </a:prstGeom>
          <a:solidFill>
            <a:srgbClr val="5B4FE9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749808" y="170844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33856" y="1690157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2147357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avec la source.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Renommage, typage,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de ligne.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80944" y="214735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1507277"/>
            <a:ext cx="2468880" cy="1600200"/>
          </a:xfrm>
          <a:prstGeom prst="roundRect">
            <a:avLst>
              <a:gd name="adj" fmla="val 5714"/>
            </a:avLst>
          </a:prstGeom>
          <a:solidFill>
            <a:srgbClr val="F3F3F8"/>
          </a:solidFill>
          <a:ln w="1270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1" name="Shape 9"/>
          <p:cNvSpPr/>
          <p:nvPr/>
        </p:nvSpPr>
        <p:spPr>
          <a:xfrm>
            <a:off x="3493008" y="1708445"/>
            <a:ext cx="310896" cy="310896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2" name="Text 10"/>
          <p:cNvSpPr/>
          <p:nvPr/>
        </p:nvSpPr>
        <p:spPr>
          <a:xfrm>
            <a:off x="3493008" y="170844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77056" y="1690157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93008" y="2147357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 et enrichissement.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Neutre et exhaustif,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donc réutilisable.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24144" y="214735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35040" y="1507277"/>
            <a:ext cx="2468880" cy="1600200"/>
          </a:xfrm>
          <a:prstGeom prst="roundRect">
            <a:avLst>
              <a:gd name="adj" fmla="val 5714"/>
            </a:avLst>
          </a:prstGeom>
          <a:solidFill>
            <a:srgbClr val="F3F3F8"/>
          </a:solidFill>
          <a:ln w="1270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7" name="Shape 15"/>
          <p:cNvSpPr/>
          <p:nvPr/>
        </p:nvSpPr>
        <p:spPr>
          <a:xfrm>
            <a:off x="6236208" y="1708445"/>
            <a:ext cx="310896" cy="310896"/>
          </a:xfrm>
          <a:prstGeom prst="ellipse">
            <a:avLst/>
          </a:prstGeom>
          <a:solidFill>
            <a:srgbClr val="00C08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8" name="Text 16"/>
          <p:cNvSpPr/>
          <p:nvPr/>
        </p:nvSpPr>
        <p:spPr>
          <a:xfrm>
            <a:off x="6236208" y="170844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0256" y="1690157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36208" y="2147357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métier.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gestion,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exposée à Metabase.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5216" y="357058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visés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" y="3936347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16172E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3" name="Text 21"/>
          <p:cNvSpPr/>
          <p:nvPr/>
        </p:nvSpPr>
        <p:spPr>
          <a:xfrm>
            <a:off x="676656" y="3936347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&amp; Remises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15184" y="3936347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16172E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5" name="Text 23"/>
          <p:cNvSpPr/>
          <p:nvPr/>
        </p:nvSpPr>
        <p:spPr>
          <a:xfrm>
            <a:off x="2706624" y="3936347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&amp; Top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45152" y="3936347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16172E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7" name="Text 25"/>
          <p:cNvSpPr/>
          <p:nvPr/>
        </p:nvSpPr>
        <p:spPr>
          <a:xfrm>
            <a:off x="4736592" y="3936347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Ruptures &amp; surstock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3936347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16172E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29" name="Text 27"/>
          <p:cNvSpPr/>
          <p:nvPr/>
        </p:nvSpPr>
        <p:spPr>
          <a:xfrm>
            <a:off x="6766560" y="3936347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Retards de livraison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" cy="310896"/>
          </a:xfrm>
          <a:prstGeom prst="ellipse">
            <a:avLst/>
          </a:prstGeom>
          <a:solidFill>
            <a:srgbClr val="5B4FE9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384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vue par table source, sans logique métier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6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Renommage et typage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Préfixe métier (customer_city, store_city), SAFE_CAST des dates.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6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primaires reconstruites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order_item_id et stock_id, absents de la source.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6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de ligne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 err="1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total_paid</a:t>
            </a:r>
            <a:r>
              <a:rPr lang="en-US" sz="12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 </a:t>
            </a:r>
            <a:r>
              <a:rPr lang="en-US" sz="1200" dirty="0" err="1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total_discount</a:t>
            </a:r>
            <a:r>
              <a:rPr lang="en-US" sz="12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6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</a:t>
            </a:r>
            <a:r>
              <a:rPr lang="en-US" sz="1350" b="1" dirty="0" err="1">
                <a:solidFill>
                  <a:srgbClr val="16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d'intégrité</a:t>
            </a:r>
            <a:endParaRPr lang="en-US" sz="1350" dirty="0"/>
          </a:p>
          <a:p>
            <a:pPr marL="0" indent="0">
              <a:buNone/>
            </a:pPr>
            <a:r>
              <a:rPr lang="en-US" sz="12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not_null, relationships sur toutes les FK.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3108960" cy="3017520"/>
          </a:xfrm>
          <a:prstGeom prst="roundRect">
            <a:avLst>
              <a:gd name="adj" fmla="val 3030"/>
            </a:avLst>
          </a:prstGeom>
          <a:solidFill>
            <a:srgbClr val="16172E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8" name="Text 6"/>
          <p:cNvSpPr/>
          <p:nvPr/>
        </p:nvSpPr>
        <p:spPr>
          <a:xfrm>
            <a:off x="5715000" y="1554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0C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MODÈLES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15000" y="187452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9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stg__brands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9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stg__categories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9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stg__customers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9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stg__order_items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9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stg__orders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9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stg__products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9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stg__staffs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9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stg__stocks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9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stg__stores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" cy="310896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3840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</a:t>
            </a:r>
            <a:r>
              <a:rPr lang="en-US" sz="13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jointures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36780"/>
            <a:ext cx="3794760" cy="1280160"/>
          </a:xfrm>
          <a:prstGeom prst="roundRect">
            <a:avLst>
              <a:gd name="adj" fmla="val 7143"/>
            </a:avLst>
          </a:prstGeom>
          <a:solidFill>
            <a:srgbClr val="F3F3F8"/>
          </a:solidFill>
          <a:ln w="1270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7" name="Text 5"/>
          <p:cNvSpPr/>
          <p:nvPr/>
        </p:nvSpPr>
        <p:spPr>
          <a:xfrm>
            <a:off x="777240" y="16830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int__orders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16830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commande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397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 les libellés client, magasin et vendeur.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1536780"/>
            <a:ext cx="3794760" cy="1280160"/>
          </a:xfrm>
          <a:prstGeom prst="roundRect">
            <a:avLst>
              <a:gd name="adj" fmla="val 7143"/>
            </a:avLst>
          </a:prstGeom>
          <a:solidFill>
            <a:srgbClr val="F3F3F8"/>
          </a:solidFill>
          <a:ln w="1270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1" name="Text 9"/>
          <p:cNvSpPr/>
          <p:nvPr/>
        </p:nvSpPr>
        <p:spPr>
          <a:xfrm>
            <a:off x="4846320" y="16830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int__products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03720" y="16830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0397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 la marque et la catégorie.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45540"/>
            <a:ext cx="3794760" cy="1280160"/>
          </a:xfrm>
          <a:prstGeom prst="roundRect">
            <a:avLst>
              <a:gd name="adj" fmla="val 7143"/>
            </a:avLst>
          </a:prstGeom>
          <a:solidFill>
            <a:srgbClr val="F3F3F8"/>
          </a:solidFill>
          <a:ln w="1270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5" name="Text 13"/>
          <p:cNvSpPr/>
          <p:nvPr/>
        </p:nvSpPr>
        <p:spPr>
          <a:xfrm>
            <a:off x="777240" y="31918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int__order_items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31918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ligne de commande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5484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 faits des ventes, tout le </a:t>
            </a:r>
            <a:r>
              <a:rPr lang="en-US" sz="1150" dirty="0" err="1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joint. </a:t>
            </a:r>
          </a:p>
          <a:p>
            <a:pPr marL="0" indent="0">
              <a:lnSpc>
                <a:spcPts val="1500"/>
              </a:lnSpc>
              <a:buNone/>
            </a:pPr>
            <a:r>
              <a:rPr lang="fr-FR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filtre métier, pour que </a:t>
            </a:r>
            <a:r>
              <a:rPr lang="fr-FR" sz="1150" dirty="0" err="1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r>
              <a:rPr lang="fr-FR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__stocks puisse réutiliser ce modèle</a:t>
            </a: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17720" y="3045540"/>
            <a:ext cx="3794760" cy="1280160"/>
          </a:xfrm>
          <a:prstGeom prst="roundRect">
            <a:avLst>
              <a:gd name="adj" fmla="val 7143"/>
            </a:avLst>
          </a:prstGeom>
          <a:solidFill>
            <a:srgbClr val="F3F3F8"/>
          </a:solidFill>
          <a:ln w="1270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9" name="Text 17"/>
          <p:cNvSpPr/>
          <p:nvPr/>
        </p:nvSpPr>
        <p:spPr>
          <a:xfrm>
            <a:off x="4846320" y="31918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int__stocks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31918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magasin × produit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5484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 le stock et les ventes : couverture en mois.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" cy="310896"/>
          </a:xfrm>
          <a:prstGeom prst="ellipse">
            <a:avLst/>
          </a:prstGeom>
          <a:solidFill>
            <a:srgbClr val="00C08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384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des </a:t>
            </a:r>
            <a:r>
              <a:rPr lang="en-US" sz="1300" dirty="0" err="1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r>
              <a:rPr lang="en-US" sz="13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métier. Un grain par </a:t>
            </a:r>
            <a:r>
              <a:rPr lang="en-US" sz="1300" dirty="0" err="1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r>
              <a:rPr lang="en-US" sz="13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71317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3F3F8"/>
          </a:solidFill>
          <a:ln w="1270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7" name="Text 5"/>
          <p:cNvSpPr/>
          <p:nvPr/>
        </p:nvSpPr>
        <p:spPr>
          <a:xfrm>
            <a:off x="777240" y="1271317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mrt_orders_report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0" y="1271317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ligne de commande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20640" y="1271317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panier moyen, top produits, remises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167429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3F3F8"/>
          </a:solidFill>
          <a:ln w="1270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1" name="Text 9"/>
          <p:cNvSpPr/>
          <p:nvPr/>
        </p:nvSpPr>
        <p:spPr>
          <a:xfrm>
            <a:off x="777240" y="2167429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mrt_shipping_report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00400" y="2167429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commande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20640" y="2167429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Délais d'expédition, commandes en retard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541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3F3F8"/>
          </a:solidFill>
          <a:ln w="1270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5" name="Text 13"/>
          <p:cNvSpPr/>
          <p:nvPr/>
        </p:nvSpPr>
        <p:spPr>
          <a:xfrm>
            <a:off x="777240" y="3063541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mrt_stocks_report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00400" y="3063541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magasin × produit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20640" y="3063541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Ruptures de stock, surstock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69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6172E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9" name="Text 17"/>
          <p:cNvSpPr/>
          <p:nvPr/>
        </p:nvSpPr>
        <p:spPr>
          <a:xfrm>
            <a:off x="777240" y="4297669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</a:t>
            </a:r>
            <a:r>
              <a:rPr lang="en-US" sz="1100" b="1" dirty="0" err="1">
                <a:solidFill>
                  <a:srgbClr val="00C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</a:t>
            </a:r>
            <a:r>
              <a:rPr lang="en-US" sz="1100" b="1" dirty="0">
                <a:solidFill>
                  <a:srgbClr val="00C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b="1" dirty="0" err="1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100" dirty="0" err="1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ommande</a:t>
            </a:r>
            <a:r>
              <a:rPr lang="en-US" sz="1100" dirty="0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annulées</a:t>
            </a:r>
            <a:r>
              <a:rPr lang="en-US" sz="1100" dirty="0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dirty="0" err="1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bloquées</a:t>
            </a:r>
            <a:r>
              <a:rPr lang="en-US" sz="1100" dirty="0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exclues des marts shipping &amp; stocks, conservées avec label dans orders  ·  couverture stock calculée sur MAX(order_date)  ·  surstock au-delà de 6 mois</a:t>
            </a:r>
            <a:endParaRPr lang="en-US" sz="11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263186A3-33E8-9007-7695-58C4EF72C742}"/>
              </a:ext>
            </a:extLst>
          </p:cNvPr>
          <p:cNvSpPr/>
          <p:nvPr/>
        </p:nvSpPr>
        <p:spPr>
          <a:xfrm>
            <a:off x="548640" y="391155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2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3 tests </a:t>
            </a:r>
            <a:r>
              <a:rPr lang="en-US" sz="1200" dirty="0" err="1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singuliers</a:t>
            </a:r>
            <a:r>
              <a:rPr lang="en-US" sz="12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200" i="1" dirty="0" err="1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assert_required_after_order</a:t>
            </a:r>
            <a:r>
              <a:rPr lang="en-US" sz="12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i="1" dirty="0" err="1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assert_shipped_after_order</a:t>
            </a:r>
            <a:r>
              <a:rPr lang="en-US" sz="12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200" i="1" dirty="0" err="1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assert_shipped_orders_have_shipped_date</a:t>
            </a:r>
            <a:r>
              <a:rPr lang="en-US" sz="12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i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 par </a:t>
            </a:r>
            <a:r>
              <a:rPr lang="en-US" sz="1300" dirty="0" err="1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r>
              <a:rPr lang="en-US" sz="13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3291840"/>
          </a:xfrm>
          <a:prstGeom prst="roundRect">
            <a:avLst>
              <a:gd name="adj" fmla="val 2778"/>
            </a:avLst>
          </a:prstGeom>
          <a:solidFill>
            <a:srgbClr val="F3F3F8"/>
          </a:solidFill>
          <a:ln w="1270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45C528C-7883-0A4B-663A-2510565AA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28" y="1463040"/>
            <a:ext cx="7787148" cy="31574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" cy="310896"/>
          </a:xfrm>
          <a:prstGeom prst="ellipse">
            <a:avLst/>
          </a:prstGeom>
          <a:solidFill>
            <a:srgbClr val="00C08B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384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Ébauche d'analyse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appartient au métier — premiers signaux et action </a:t>
            </a:r>
            <a:r>
              <a:rPr lang="en-US" sz="1300" dirty="0" err="1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suggérée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3F3F8"/>
          </a:solidFill>
          <a:ln w="1270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7" name="Text 5"/>
          <p:cNvSpPr/>
          <p:nvPr/>
        </p:nvSpPr>
        <p:spPr>
          <a:xfrm>
            <a:off x="777240" y="13716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Expédition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0" y="137160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de retards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20640" y="13716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458 des 1 445 commandes expédiées sont parties en retard. À corriger en priorité côté logistique.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3F3F8"/>
          </a:solidFill>
          <a:ln w="1270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1" name="Text 9"/>
          <p:cNvSpPr/>
          <p:nvPr/>
        </p:nvSpPr>
        <p:spPr>
          <a:xfrm>
            <a:off x="777240" y="226771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Concentration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00400" y="226771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du CA à Baldwin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20640" y="2267712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Rowlett ne pèse que 11% : à développer ou à laisser de côté, décision business à prendre.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3F3F8"/>
          </a:solidFill>
          <a:ln w="1270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5" name="Text 13"/>
          <p:cNvSpPr/>
          <p:nvPr/>
        </p:nvSpPr>
        <p:spPr>
          <a:xfrm>
            <a:off x="777240" y="3163824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Action → réappro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00400" y="316382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K$ de CA à risque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20640" y="316382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références vendues ces 12 derniers mois en rupture — dont Trek Remedy 9.8 à Baldwin : 53 K$/an.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6172E"/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19" name="Text 17"/>
          <p:cNvSpPr/>
          <p:nvPr/>
        </p:nvSpPr>
        <p:spPr>
          <a:xfrm>
            <a:off x="777240" y="411480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0C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r>
              <a:rPr lang="en-US" sz="1100" b="1" dirty="0">
                <a:solidFill>
                  <a:srgbClr val="00C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fr-FR" sz="1100" dirty="0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fiables : jan. 2016 → mars 2018. Au-delà, le fichier semble incomplet : commandes bloquées en avril, plus aucune activité ensuite.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922FBF-3EF9-7878-0F59-93349AB54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9AAF3F-DC12-F198-AC10-7589333536E8}"/>
              </a:ext>
            </a:extLst>
          </p:cNvPr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37B2D0-676A-4C4C-8B73-C5758A31CE60}"/>
              </a:ext>
            </a:extLst>
          </p:cNvPr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</a:t>
            </a:r>
            <a:r>
              <a:rPr lang="en-US" sz="13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le métier</a:t>
            </a:r>
            <a:endParaRPr lang="en-US" sz="13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A2BCF8A-AD3B-C1B0-1FBD-37585B0DA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681" y="1203234"/>
            <a:ext cx="6180637" cy="3781231"/>
          </a:xfrm>
          <a:prstGeom prst="rect">
            <a:avLst/>
          </a:prstGeom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875796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57347B-2D1D-B0EB-1B35-1F669FE28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1852FA-7D40-2C0B-A4D7-AF998C795D7F}"/>
              </a:ext>
            </a:extLst>
          </p:cNvPr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2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2721390-2779-DD71-3BAB-0032EE685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963" y="932689"/>
            <a:ext cx="5172073" cy="4044764"/>
          </a:xfrm>
          <a:prstGeom prst="rect">
            <a:avLst/>
          </a:prstGeom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2720643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F2C3B9-B1CE-EF9A-A3D7-521C1FBC5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398B86B-AC27-2CC6-7980-EF7DB8E83C93}"/>
              </a:ext>
            </a:extLst>
          </p:cNvPr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2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AA662B2-2978-1C13-98EC-2DFF39EB0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899" y="932688"/>
            <a:ext cx="4482201" cy="3981349"/>
          </a:xfrm>
          <a:prstGeom prst="rect">
            <a:avLst/>
          </a:prstGeom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3997818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D33497-74E6-CF5A-AD8F-46ACFD414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524B89-1D55-BA98-04C2-B36738DA01C4}"/>
              </a:ext>
            </a:extLst>
          </p:cNvPr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2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5A25819-DE2D-FB1F-C624-518151937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032" y="1008743"/>
            <a:ext cx="6459936" cy="3911242"/>
          </a:xfrm>
          <a:prstGeom prst="rect">
            <a:avLst/>
          </a:prstGeom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1841182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15A7D-AC1C-3E1D-ECE5-B81A88A06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796163-5A2A-6902-FC49-DE259A6BCC62}"/>
              </a:ext>
            </a:extLst>
          </p:cNvPr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2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3782D64-E32A-7C94-DDA4-319C31ED3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795" y="932688"/>
            <a:ext cx="4710410" cy="4043843"/>
          </a:xfrm>
          <a:prstGeom prst="rect">
            <a:avLst/>
          </a:prstGeom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959415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108960"/>
            <a:ext cx="3108960" cy="3108960"/>
          </a:xfrm>
          <a:prstGeom prst="ellipse">
            <a:avLst/>
          </a:prstGeom>
          <a:solidFill>
            <a:srgbClr val="5B4FE9">
              <a:alpha val="25000"/>
            </a:srgbClr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3" name="Shape 1"/>
          <p:cNvSpPr/>
          <p:nvPr/>
        </p:nvSpPr>
        <p:spPr>
          <a:xfrm>
            <a:off x="7680960" y="-731520"/>
            <a:ext cx="2377440" cy="2377440"/>
          </a:xfrm>
          <a:prstGeom prst="ellipse">
            <a:avLst/>
          </a:prstGeom>
          <a:solidFill>
            <a:srgbClr val="00C08B">
              <a:alpha val="20000"/>
            </a:srgbClr>
          </a:solidFill>
          <a:ln/>
        </p:spPr>
        <p:txBody>
          <a:bodyPr/>
          <a:lstStyle/>
          <a:p>
            <a:endParaRPr lang="fr-BE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9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github.com/data-ag/local_bike_project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796</Words>
  <Application>Microsoft Office PowerPoint</Application>
  <PresentationFormat>Affichage à l'écran (16:9)</PresentationFormat>
  <Paragraphs>127</Paragraphs>
  <Slides>13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Bike — Analytics Engineering</dc:title>
  <dc:subject>PptxGenJS Presentation</dc:subject>
  <dc:creator>Local Bike</dc:creator>
  <cp:lastModifiedBy>Alexis Gueudry</cp:lastModifiedBy>
  <cp:revision>14</cp:revision>
  <dcterms:created xsi:type="dcterms:W3CDTF">2026-07-14T15:53:45Z</dcterms:created>
  <dcterms:modified xsi:type="dcterms:W3CDTF">2026-07-15T21:38:45Z</dcterms:modified>
</cp:coreProperties>
</file>